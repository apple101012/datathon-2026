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pple\Documents\Github\datathon-2026\presentation\charts\global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194560"/>
            <a:ext cx="12188952" cy="4663440"/>
          </a:xfrm>
          <a:prstGeom prst="rect">
            <a:avLst/>
          </a:prstGeom>
          <a:solidFill>
            <a:srgbClr val="080E1A">
              <a:alpha val="80000"/>
            </a:srgbClr>
          </a:solidFill>
          <a:ln w="12700">
            <a:solidFill>
              <a:srgbClr val="080E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474720" y="320040"/>
            <a:ext cx="5239512" cy="347472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474720" y="320040"/>
            <a:ext cx="5239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D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&amp; CRITICAL INFRASTRUCTURE TRACK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097280"/>
            <a:ext cx="11064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Coral Reefs Are Most at Risk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Collapse — and Who Loses?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371600" y="352044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Real-World Bleaching Records, XGBoost &amp; SHAP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Map Reef Collapse Risk onto 500M+ Reef-Dependent People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743200" y="4526280"/>
            <a:ext cx="6702552" cy="0"/>
          </a:xfrm>
          <a:prstGeom prst="line">
            <a:avLst/>
          </a:prstGeom>
          <a:noFill/>
          <a:ln w="19050">
            <a:solidFill>
              <a:srgbClr val="2EC4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47091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Shihab Jamal  ·  Visula Peduru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16636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SBU AI Community Datathon 2026   ·   March 28–29, 2026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22860">
            <a:solidFill>
              <a:srgbClr val="FF6F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52728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500M+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11480" y="2130552"/>
            <a:ext cx="32918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depend on reefs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food &amp; income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023360" y="1143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2286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69080" y="1252728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114800" y="2130552"/>
            <a:ext cx="32918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reef tourism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globally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26680" y="114300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2286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1252728"/>
            <a:ext cx="338328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$6.8B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818120" y="2130552"/>
            <a:ext cx="32918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reef fisheries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globally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971800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3063240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million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small-scale fishers depend on reef ecosystems. In Pacific and Indian Ocean nations, reef fish is the primary daily protein source for coastal populations.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" y="3611880"/>
            <a:ext cx="11521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defence: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1-metre reef absorbs up to 97% of incoming wave energy, protecting </a:t>
            </a:r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$400B+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coastal assets from storm surge annually.</a:t>
            </a:r>
            <a:endParaRPr lang="en-US" sz="1200" dirty="0"/>
          </a:p>
        </p:txBody>
      </p:sp>
      <p:pic>
        <p:nvPicPr>
          <p:cNvPr id="18" name="Image 0" descr="C:\Users\Apple\Documents\Github\datathon-2026\presentation\charts\bubbl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251960"/>
            <a:ext cx="11521440" cy="21031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Ocean Service; The Nature Conservancy Ocean Wealth (2021); World Bank Fisheries Employment Data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Crisis: 4th Global Bleaching Event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6F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19050">
            <a:solidFill>
              <a:srgbClr val="888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0700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1998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global event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88920" y="169164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1905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0700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9184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global event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15000" y="169164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172200" y="114300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20700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2014–17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1792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21792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global event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41080" y="169164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9098280" y="114300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0D172B"/>
          </a:solidFill>
          <a:ln w="31750">
            <a:solidFill>
              <a:srgbClr val="FF6F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1143000"/>
            <a:ext cx="2377440" cy="109728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0" y="1207008"/>
            <a:ext cx="2286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44000" y="17373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14400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 global event ↑ ONGOING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926080"/>
            <a:ext cx="11521440" cy="566928"/>
          </a:xfrm>
          <a:prstGeom prst="roundRect">
            <a:avLst>
              <a:gd name="adj" fmla="val 9677"/>
            </a:avLst>
          </a:prstGeom>
          <a:solidFill>
            <a:srgbClr val="1A0A0A"/>
          </a:solidFill>
          <a:ln w="19050">
            <a:solidFill>
              <a:srgbClr val="FF6F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2962656"/>
            <a:ext cx="111556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84% of the world's reefs hit bleaching-level heat stress across 82 countries — 99.7% of all Atlantic tropical reef areas within a single year.</a:t>
            </a:r>
            <a:endParaRPr lang="en-US" sz="1300" dirty="0"/>
          </a:p>
        </p:txBody>
      </p:sp>
      <p:pic>
        <p:nvPicPr>
          <p:cNvPr id="28" name="Image 0" descr="C:\Users\Apple\Documents\Github\datathon-2026\presentation\charts\time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3611880"/>
            <a:ext cx="11521440" cy="274320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ICRI (2025): icriforum.org/4gbe-2025  |  NOAA Coral Reef Watch (2024)  |  GCBD time series (8,973 records)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Ran Out of Numbers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6F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4300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SCALE  (pre-2023)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72768"/>
            <a:ext cx="4480560" cy="548640"/>
          </a:xfrm>
          <a:prstGeom prst="roundRect">
            <a:avLst>
              <a:gd name="adj" fmla="val 8333"/>
            </a:avLst>
          </a:prstGeom>
          <a:solidFill>
            <a:srgbClr val="0D172B"/>
          </a:solidFill>
          <a:ln w="2286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7276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231136"/>
            <a:ext cx="4480560" cy="548640"/>
          </a:xfrm>
          <a:prstGeom prst="roundRect">
            <a:avLst>
              <a:gd name="adj" fmla="val 8333"/>
            </a:avLst>
          </a:prstGeom>
          <a:solidFill>
            <a:srgbClr val="0D172B"/>
          </a:solidFill>
          <a:ln w="2286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31136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2889504"/>
            <a:ext cx="4480560" cy="548640"/>
          </a:xfrm>
          <a:prstGeom prst="roundRect">
            <a:avLst>
              <a:gd name="adj" fmla="val 8333"/>
            </a:avLst>
          </a:prstGeom>
          <a:solidFill>
            <a:srgbClr val="0D172B"/>
          </a:solidFill>
          <a:ln w="22860">
            <a:solidFill>
              <a:srgbClr val="FF6F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8950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547872"/>
            <a:ext cx="4480560" cy="548640"/>
          </a:xfrm>
          <a:prstGeom prst="roundRect">
            <a:avLst>
              <a:gd name="adj" fmla="val 8333"/>
            </a:avLst>
          </a:prstGeom>
          <a:solidFill>
            <a:srgbClr val="0D172B"/>
          </a:solidFill>
          <a:ln w="22860">
            <a:solidFill>
              <a:srgbClr val="8B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547872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2377440"/>
            <a:ext cx="1216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114300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SCALE  (December 2023)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57276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0D172B"/>
          </a:solidFill>
          <a:ln w="190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57276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207568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0D172B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0756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257860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0D172B"/>
          </a:solidFill>
          <a:ln w="19050">
            <a:solidFill>
              <a:srgbClr val="FF6F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25786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92240" y="308152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0D172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0815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D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358444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 w="3175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358444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3  ★ NEW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408736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922B21"/>
          </a:solidFill>
          <a:ln w="31750">
            <a:solidFill>
              <a:srgbClr val="922B2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8736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4  ★ NEW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4590288"/>
            <a:ext cx="5029200" cy="411480"/>
          </a:xfrm>
          <a:prstGeom prst="roundRect">
            <a:avLst>
              <a:gd name="adj" fmla="val 11111"/>
            </a:avLst>
          </a:prstGeom>
          <a:solidFill>
            <a:srgbClr val="641E16"/>
          </a:solidFill>
          <a:ln w="31750">
            <a:solidFill>
              <a:srgbClr val="641E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45902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Level 5  ★ NEW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" y="5303520"/>
            <a:ext cx="11521440" cy="713232"/>
          </a:xfrm>
          <a:prstGeom prst="roundRect">
            <a:avLst>
              <a:gd name="adj" fmla="val 7692"/>
            </a:avLst>
          </a:prstGeom>
          <a:solidFill>
            <a:srgbClr val="162236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5349240"/>
            <a:ext cx="11155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"Alert Level 5 = &gt;80% coral mortality risk. When your measurement tool runs out of room, the problem has outpaced our expectations."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Climate.gov (December 2023)  |  NOAA Coral Reef Watch Alert Scale documentation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Data: The Global Coral Bleaching Database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0D172B"/>
          </a:solidFill>
          <a:ln w="22860">
            <a:solidFill>
              <a:srgbClr val="2E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52728"/>
            <a:ext cx="256032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8,973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records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(1980–2020)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11430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0D172B"/>
          </a:solidFill>
          <a:ln w="2286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252728"/>
            <a:ext cx="256032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989320" y="11430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0D172B"/>
          </a:solidFill>
          <a:ln w="2286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252728"/>
            <a:ext cx="256032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yrs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080760" y="1965960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span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23960" y="114300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0D172B"/>
          </a:solidFill>
          <a:ln w="22860">
            <a:solidFill>
              <a:srgbClr val="FF6F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252728"/>
            <a:ext cx="29260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20.6%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915400" y="1965960"/>
            <a:ext cx="28346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bleaching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(all records)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651760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697480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pPr indent="0" marL="0">
              <a:buNone/>
            </a:pPr>
            <a:r>
              <a:rPr lang="en-US" sz="1000" b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Description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99232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035808"/>
            <a:ext cx="11521440" cy="347472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5409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Percent_Bleaching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Target variable — % of coral colony affected by bleaching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401568"/>
            <a:ext cx="11521440" cy="347472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41985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SSTA_DHW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Degree Heating Weeks — accumulated thermal stress above coral tolerance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3767328"/>
            <a:ext cx="11521440" cy="347472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78561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SSTA_Standard_Deviation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Thermal variability — #1 SHAP predictor and key resilience indicator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4133088"/>
            <a:ext cx="11521440" cy="347472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415137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ClimSST / Temperature_Mean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Climatological baseline sea surface temperature and observed mean SST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4498848"/>
            <a:ext cx="11521440" cy="347472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51713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Depth_m, Turbidity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Physical reef characteristics (shelter, water clarity)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864608"/>
            <a:ext cx="11521440" cy="347472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882896"/>
            <a:ext cx="11338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/ Ocean / Ecoregion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Geographic identifiers for regional risk modeling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" y="6144768"/>
            <a:ext cx="11521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van Woesik &amp; Kratochwill (2022), Nature Scientific Data. SQLite: doi.org/10.6084/m9.figshare.c.5314466. Supplementary: NOAA Coral Reef Watch 5km daily SST.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Woesik &amp; Kratochwill (2022), Scientific Data 9, 166  |  NOAA Coral Reef Watch (2023)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What the Data Told Us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162236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143000"/>
            <a:ext cx="2788920" cy="109728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07592"/>
            <a:ext cx="2697480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3.4×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11480" y="2153412"/>
            <a:ext cx="2606040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bleaching post-2015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(7.1% → 24.0%, p = 10⁻⁵⁷)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00984" y="114300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162236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00984" y="1143000"/>
            <a:ext cx="2788920" cy="10972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6704" y="1307592"/>
            <a:ext cx="2697480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392424" y="2153412"/>
            <a:ext cx="2606040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predictor: SST Thermal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Variability (score = 6.76)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81928" y="114300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162236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81928" y="1143000"/>
            <a:ext cx="2788920" cy="10972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1307592"/>
            <a:ext cx="2697480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73368" y="2153412"/>
            <a:ext cx="2606040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ρ: Degree Heating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vs. bleaching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262872" y="1143000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162236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1143000"/>
            <a:ext cx="2788920" cy="109728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08592" y="1307592"/>
            <a:ext cx="2697480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354312" y="2153412"/>
            <a:ext cx="2606040" cy="497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Bleaching in Philippines,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&amp; Pacific SIDS regions</a:t>
            </a:r>
            <a:endParaRPr lang="en-US" sz="850" dirty="0"/>
          </a:p>
        </p:txBody>
      </p:sp>
      <p:pic>
        <p:nvPicPr>
          <p:cNvPr id="22" name="Image 0" descr="C:\Users\Apple\Documents\Github\datathon-2026\presentation\charts\time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834640"/>
            <a:ext cx="5715000" cy="3337560"/>
          </a:xfrm>
          <a:prstGeom prst="rect">
            <a:avLst/>
          </a:prstGeom>
        </p:spPr>
      </p:pic>
      <p:pic>
        <p:nvPicPr>
          <p:cNvPr id="23" name="Image 1" descr="C:\Users\Apple\Documents\Github\datathon-2026\presentation\charts\heatmap_reg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834640"/>
            <a:ext cx="5715000" cy="33375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GCBD (8,973 records, 1980–2020); Mann-Whitney U test pre-2015 vs 2015–2020: p = 1.00×10⁻⁵⁷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XGBoost + SHAP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6F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1901952" cy="822960"/>
          </a:xfrm>
          <a:prstGeom prst="roundRect">
            <a:avLst>
              <a:gd name="adj" fmla="val 7778"/>
            </a:avLst>
          </a:prstGeom>
          <a:solidFill>
            <a:srgbClr val="0D172B"/>
          </a:solidFill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43000"/>
            <a:ext cx="1901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GCBD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13432" y="1261872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688336" y="1143000"/>
            <a:ext cx="1901952" cy="822960"/>
          </a:xfrm>
          <a:prstGeom prst="roundRect">
            <a:avLst>
              <a:gd name="adj" fmla="val 7778"/>
            </a:avLst>
          </a:prstGeom>
          <a:solidFill>
            <a:srgbClr val="0D172B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88336" y="1143000"/>
            <a:ext cx="1901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81728" y="1261872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56632" y="1143000"/>
            <a:ext cx="1901952" cy="822960"/>
          </a:xfrm>
          <a:prstGeom prst="roundRect">
            <a:avLst>
              <a:gd name="adj" fmla="val 7778"/>
            </a:avLst>
          </a:prstGeom>
          <a:solidFill>
            <a:srgbClr val="0D172B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56632" y="1143000"/>
            <a:ext cx="1901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50024" y="1261872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424928" y="1143000"/>
            <a:ext cx="1901952" cy="822960"/>
          </a:xfrm>
          <a:prstGeom prst="roundRect">
            <a:avLst>
              <a:gd name="adj" fmla="val 7778"/>
            </a:avLst>
          </a:prstGeom>
          <a:solidFill>
            <a:srgbClr val="0D172B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1143000"/>
            <a:ext cx="1901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18320" y="1261872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9793224" y="1143000"/>
            <a:ext cx="1901952" cy="822960"/>
          </a:xfrm>
          <a:prstGeom prst="roundRect">
            <a:avLst>
              <a:gd name="adj" fmla="val 7778"/>
            </a:avLst>
          </a:prstGeom>
          <a:solidFill>
            <a:srgbClr val="0D172B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3224" y="1143000"/>
            <a:ext cx="1901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148840"/>
            <a:ext cx="5989320" cy="1600200"/>
          </a:xfrm>
          <a:prstGeom prst="roundRect">
            <a:avLst>
              <a:gd name="adj" fmla="val 4000"/>
            </a:avLst>
          </a:prstGeom>
          <a:solidFill>
            <a:srgbClr val="0D172B"/>
          </a:solidFill>
          <a:ln w="22860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40280"/>
            <a:ext cx="5715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</a:t>
            </a:r>
            <a:pPr indent="0" marL="0">
              <a:buNone/>
            </a:pPr>
            <a:r>
              <a:rPr lang="en-US" sz="11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tried using a CNN model… very high RMSEs. Decision trees and gradient boosting outperformed everything else on tabular satellite-derived water quality data.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02920" y="3200400"/>
            <a:ext cx="5715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Yang Xu, 1st place, NASA Tick Tick Bloom Challenge (DrivenData 2023)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886200"/>
            <a:ext cx="5989320" cy="1463040"/>
          </a:xfrm>
          <a:prstGeom prst="roundRect">
            <a:avLst>
              <a:gd name="adj" fmla="val 4375"/>
            </a:avLst>
          </a:prstGeom>
          <a:solidFill>
            <a:srgbClr val="162236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959352"/>
            <a:ext cx="5715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 Strategy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5715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pre-2015  (8,259 samples)  →  Test: 2015–2020  (714 samples)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690872"/>
            <a:ext cx="5715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hard temporal split prevents data leakage — and tests whether pre-2015 patterns can predict the unprecedented 2015–2020 mass bleaching events.</a:t>
            </a:r>
            <a:endParaRPr lang="en-US" sz="1000" dirty="0"/>
          </a:p>
        </p:txBody>
      </p:sp>
      <p:pic>
        <p:nvPicPr>
          <p:cNvPr id="27" name="Image 0" descr="C:\Users\Apple\Documents\Github\datathon-2026\presentation\charts\model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48840"/>
            <a:ext cx="5486400" cy="32461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drivendata.co/blog/tick-tick-bloom-challenge-winners  |  GCBD temporal split model results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1: Which Reefs Are Most at Risk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6F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6309360" cy="347472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490472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9786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/ Country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11978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Bleaching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6280" y="119786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Driver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527048"/>
            <a:ext cx="630936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636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Philippines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26080" y="15636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26280" y="15636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DHW + Depth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84248"/>
            <a:ext cx="6309360" cy="420624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0208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(Ryukyu Islands)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0" y="20208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26280" y="20208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DHW + ClimSST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441448"/>
            <a:ext cx="630936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24780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 Island, Pacific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26080" y="24780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87.5%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6280" y="24780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DHW 15.5 weeks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2898648"/>
            <a:ext cx="6309360" cy="420624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29352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Persian Gulf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926080" y="29352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87.0%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29352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ClimSST + Turbidity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355848"/>
            <a:ext cx="630936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3924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926080" y="33924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71.9%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26280" y="33924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DHW + ClimSST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3813048"/>
            <a:ext cx="6309360" cy="420624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8496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Madagascar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26080" y="38496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65.4%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26280" y="38496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SSTA Variability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270248"/>
            <a:ext cx="630936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43068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926080" y="430682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57.3%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26280" y="4306824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DHW + Exposure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4873752"/>
            <a:ext cx="6309360" cy="411480"/>
          </a:xfrm>
          <a:prstGeom prst="roundRect">
            <a:avLst>
              <a:gd name="adj" fmla="val 11111"/>
            </a:avLst>
          </a:prstGeom>
          <a:solidFill>
            <a:srgbClr val="0D172B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1480" y="4892040"/>
            <a:ext cx="61264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Top 5: SSTA_SD (6.76) · DHW (6.22) · ClimSST (3.01) · Temp_Mean (2.98) · Cyclone_Freq (2.41)</a:t>
            </a:r>
            <a:endParaRPr lang="en-US" sz="900" dirty="0"/>
          </a:p>
        </p:txBody>
      </p:sp>
      <p:pic>
        <p:nvPicPr>
          <p:cNvPr id="41" name="Image 0" descr="C:\Users\Apple\Documents\Github\datathon-2026\presentation\charts\top10_count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43000"/>
            <a:ext cx="5120640" cy="2103120"/>
          </a:xfrm>
          <a:prstGeom prst="rect">
            <a:avLst/>
          </a:prstGeom>
        </p:spPr>
      </p:pic>
      <p:pic>
        <p:nvPicPr>
          <p:cNvPr id="42" name="Image 1" descr="C:\Users\Apple\Documents\Github\datathon-2026\presentation\charts\corre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3429000"/>
            <a:ext cx="5120640" cy="1920240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GCBD real-data results; XGBoost trained on 8,259 pre-2015 records, tested on 714 records (2015–2020)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2: The Thermal Variability Paradox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6126480" cy="2103120"/>
          </a:xfrm>
          <a:prstGeom prst="roundRect">
            <a:avLst>
              <a:gd name="adj" fmla="val 2609"/>
            </a:avLst>
          </a:prstGeom>
          <a:solidFill>
            <a:srgbClr val="0D172B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The Science — Sully et al. (2019), Nature Communications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64592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"Coral bleaching was significantly LESS common in localities with a HIGH VARIANCE in SST anomalies. Periodic temperature swings appear to pre-condition thermal tolerance in corals. Stable-temperature reefs are paradoxically more fragile." — analysis of 3,351 reef sites globally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3383280"/>
            <a:ext cx="6126480" cy="2011680"/>
          </a:xfrm>
          <a:prstGeom prst="roundRect">
            <a:avLst>
              <a:gd name="adj" fmla="val 2727"/>
            </a:avLst>
          </a:prstGeom>
          <a:solidFill>
            <a:srgbClr val="0D172B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349300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What Our GCBD Analysis Found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388620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SSTA_SD is the #1 SHAP predictor (importance = 6.76). The raw Spearman ρ = +0.454 reflects that sites experiencing extreme thermal events show both high SSTA_SD and high bleaching simultaneously. SHAP decomposes the directional effect at the individual prediction level — separating acute-event spikes from background variability.</a:t>
            </a:r>
            <a:endParaRPr lang="en-US" sz="1000" dirty="0"/>
          </a:p>
        </p:txBody>
      </p:sp>
      <p:pic>
        <p:nvPicPr>
          <p:cNvPr id="12" name="Image 0" descr="C:\Users\Apple\Documents\Github\datathon-2026\presentation\charts\sst_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5394960" cy="2148840"/>
          </a:xfrm>
          <a:prstGeom prst="rect">
            <a:avLst/>
          </a:prstGeom>
        </p:spPr>
      </p:pic>
      <p:pic>
        <p:nvPicPr>
          <p:cNvPr id="13" name="Image 1" descr="C:\Users\Apple\Documents\Github\datathon-2026\presentation\charts\shap_beeswa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383280"/>
            <a:ext cx="5394960" cy="2011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Sully et al. (2019), Nature Communications doi:10.1038/s41467-019-09238-2  |  GCBD real-data analysis (8,973 records)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Impact: When Reefs Collapse, Communities Collapse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6F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90472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978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31720" y="119786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Bleaching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03320" y="119786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Reef Depend.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20640" y="119786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527048"/>
            <a:ext cx="6309360" cy="384048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63624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Palau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31720" y="156362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703320" y="15636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20640" y="1563624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1947672"/>
            <a:ext cx="6309360" cy="384048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198424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198424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57.3%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03320" y="198424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20640" y="1984248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2368296"/>
            <a:ext cx="6309360" cy="384048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40487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31720" y="2404872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48.2%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703320" y="240487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404872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788920"/>
            <a:ext cx="6309360" cy="384048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282549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Madagascar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31720" y="282549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65.4%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03320" y="28254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3209544"/>
            <a:ext cx="6309360" cy="384048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24612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331720" y="3246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48.9%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03320" y="32461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20640" y="3246120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0.738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3630168"/>
            <a:ext cx="6309360" cy="384048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666744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 Is.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331720" y="36667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38.4%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703320" y="366674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20640" y="3666744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050792"/>
            <a:ext cx="6309360" cy="384048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408736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Papua N. Guinea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331720" y="408736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703320" y="40873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20640" y="4087368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0.721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0040" y="4471416"/>
            <a:ext cx="6309360" cy="384048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450799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331720" y="4507992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71.9%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703320" y="450799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120640" y="4507992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0.707</a:t>
            </a:r>
            <a:endParaRPr lang="en-US" sz="1000" dirty="0"/>
          </a:p>
        </p:txBody>
      </p:sp>
      <p:pic>
        <p:nvPicPr>
          <p:cNvPr id="51" name="Image 0" descr="C:\Users\Apple\Documents\Github\datathon-2026\presentation\charts\community_i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43000"/>
            <a:ext cx="5120640" cy="3154680"/>
          </a:xfrm>
          <a:prstGeom prst="rect">
            <a:avLst/>
          </a:prstGeom>
        </p:spPr>
      </p:pic>
      <p:sp>
        <p:nvSpPr>
          <p:cNvPr id="52" name="Shape 49"/>
          <p:cNvSpPr/>
          <p:nvPr/>
        </p:nvSpPr>
        <p:spPr>
          <a:xfrm>
            <a:off x="6766560" y="4462272"/>
            <a:ext cx="5120640" cy="1463040"/>
          </a:xfrm>
          <a:prstGeom prst="roundRect">
            <a:avLst>
              <a:gd name="adj" fmla="val 4375"/>
            </a:avLst>
          </a:prstGeom>
          <a:solidFill>
            <a:srgbClr val="1A0A0A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949440" y="4535424"/>
            <a:ext cx="475488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Pacific &amp; Indian Ocean SIDS cluster in the upper-right quadrant — HIGH bleaching AND HIGH reef dependency simultaneously. These communities have no alternative protein source or income.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GCBD + World Bank fisheries employment data; risk score = bleaching severity × reef dependency × income vulnerability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Interpretability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90472"/>
            <a:ext cx="11521440" cy="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97864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19786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1978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00600" y="119786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527048"/>
            <a:ext cx="598932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6362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06040" y="156362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156362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00600" y="15636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1984248"/>
            <a:ext cx="5989320" cy="420624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02082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202082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0" y="202082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32.98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0600" y="20208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−0.40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2404872"/>
            <a:ext cx="11521440" cy="0"/>
          </a:xfrm>
          <a:prstGeom prst="line">
            <a:avLst/>
          </a:prstGeom>
          <a:noFill/>
          <a:ln w="12700">
            <a:solidFill>
              <a:srgbClr val="FF6F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2441448"/>
            <a:ext cx="5989320" cy="420624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2478024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06040" y="2478024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21.96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247802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4780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063240"/>
            <a:ext cx="5989320" cy="2514600"/>
          </a:xfrm>
          <a:prstGeom prst="roundRect">
            <a:avLst>
              <a:gd name="adj" fmla="val 2545"/>
            </a:avLst>
          </a:prstGeom>
          <a:solidFill>
            <a:srgbClr val="0D172B"/>
          </a:solidFill>
          <a:ln w="22860">
            <a:solidFill>
              <a:srgbClr val="FFD1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136392"/>
            <a:ext cx="5715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R² values negative?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3547872"/>
            <a:ext cx="5715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R² on the 2015–2020 test set means the model underpredicts bleaching severity in the test era.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expected: the model learned from pre-2015 patterns, and the 2015–2020 mass bleaching events are genuinely unprecedented. XGBoost still outperforms all alternatives.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modeling failure — it is empirical evidence that the 4th Global Bleaching Event exceeded every historical bound.</a:t>
            </a:r>
            <a:endParaRPr lang="en-US" sz="1100" dirty="0"/>
          </a:p>
        </p:txBody>
      </p:sp>
      <p:pic>
        <p:nvPicPr>
          <p:cNvPr id="30" name="Image 0" descr="C:\Users\Apple\Documents\Github\datathon-2026\presentation\charts\shap_beesw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143000"/>
            <a:ext cx="5486400" cy="452628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validation: train pre-2015 (8,259), test 2015–2020 (714); GCBD real data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Ethical Considerations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FFD1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9904" y="1143000"/>
            <a:ext cx="0" cy="297180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0432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645920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GCBD covers 1980–2020 — does not capture the ongoing 4th Global Bleaching Event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331720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Observation bias: more records from Australia/Caribbean than remote Pacific islands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3017520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Negative R² on test set reflects unprecedented 2015–2020 conditions not in training 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703320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Fisheries dependence estimated from national statistics, not community-level surveys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117043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55080" y="1645920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Risk scores must NOT de-prioritize reefs as "lost causes" — that harms communities most dependent on them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2450592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Reef data from Indigenous-managed areas should be governed by those communities (UNDRIP, 2007)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255264"/>
            <a:ext cx="5486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Model outputs are probabilistic indicators, not certainties — communicate uncertainty to policy audiences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4279392"/>
            <a:ext cx="11521440" cy="0"/>
          </a:xfrm>
          <a:prstGeom prst="line">
            <a:avLst/>
          </a:prstGeom>
          <a:noFill/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3525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more time: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" y="4736592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real-time NOAA CRW satellite data (2020–2026)  ·  Add community economic surveys in highest-risk SIDS  ·  Build an early-warning dashboard for reef managers and policymakers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IPBES (2019) biodiversity data governance; UNDRIP (2007) data sovereignty principles; NOAA CRW for real-time extension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172B"/>
          </a:solidFill>
          <a:ln w="12700">
            <a:solidFill>
              <a:srgbClr val="0D17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11704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12188952" cy="0"/>
          </a:xfrm>
          <a:prstGeom prst="line">
            <a:avLst/>
          </a:prstGeom>
          <a:noFill/>
          <a:ln w="31750">
            <a:solidFill>
              <a:srgbClr val="2EC4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3749040" cy="2560320"/>
          </a:xfrm>
          <a:prstGeom prst="roundRect">
            <a:avLst>
              <a:gd name="adj" fmla="val 2857"/>
            </a:avLst>
          </a:prstGeom>
          <a:solidFill>
            <a:srgbClr val="0D172B"/>
          </a:solidFill>
          <a:ln w="25400">
            <a:solidFill>
              <a:srgbClr val="FF6F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143000"/>
            <a:ext cx="3749040" cy="128016"/>
          </a:xfrm>
          <a:prstGeom prst="rect">
            <a:avLst/>
          </a:prstGeom>
          <a:solidFill>
            <a:srgbClr val="FF6F61"/>
          </a:solidFill>
          <a:ln w="12700">
            <a:solidFill>
              <a:srgbClr val="FF6F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33502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At-Risk Reefs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4632" y="1773936"/>
            <a:ext cx="341985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Philippines, Japan (Ryukyu Islands), Thailand, Indonesia, Madagascar — high Degree Heating Weeks + highest SHAP-predicted risk scores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143000"/>
            <a:ext cx="3749040" cy="2560320"/>
          </a:xfrm>
          <a:prstGeom prst="roundRect">
            <a:avLst>
              <a:gd name="adj" fmla="val 2857"/>
            </a:avLst>
          </a:prstGeom>
          <a:solidFill>
            <a:srgbClr val="0D172B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0248" y="1143000"/>
            <a:ext cx="3749040" cy="12801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33502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Vulnerable Communities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34840" y="1773936"/>
            <a:ext cx="341985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Palau (0.976), Indonesia (0.816), Fiji (0.770) — Pacific &amp; Indian Ocean SIDS with &gt;80% reef food dependency and no viable alternatives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0456" y="1143000"/>
            <a:ext cx="3749040" cy="2560320"/>
          </a:xfrm>
          <a:prstGeom prst="roundRect">
            <a:avLst>
              <a:gd name="adj" fmla="val 2857"/>
            </a:avLst>
          </a:prstGeom>
          <a:solidFill>
            <a:srgbClr val="0D172B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0456" y="1143000"/>
            <a:ext cx="3749040" cy="12801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33502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85048" y="1773936"/>
            <a:ext cx="341985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NOAA CRW data integration  ·  Bay-level bleaching early-warning systems  ·  Fisheries policy reform in highest-risk SIDS  ·  NGO ground-truth validation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858768"/>
            <a:ext cx="11521440" cy="731520"/>
          </a:xfrm>
          <a:prstGeom prst="roundRect">
            <a:avLst>
              <a:gd name="adj" fmla="val 8750"/>
            </a:avLst>
          </a:prstGeom>
          <a:solidFill>
            <a:srgbClr val="0D172B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95344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Insight: Stable-temperature reefs are the most fragile. Conservation policy must prioritize them — even when they appear "safe" by mean SST alone.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773168"/>
            <a:ext cx="11521440" cy="0"/>
          </a:xfrm>
          <a:prstGeom prst="line">
            <a:avLst/>
          </a:prstGeom>
          <a:noFill/>
          <a:ln w="12700">
            <a:solidFill>
              <a:srgbClr val="FF6F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64608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6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The data tells us where to look. The question is whether we act in time. "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74320" y="6565392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Which coral reefs are most at risk of collapse and which communities lose food security? — SBU AI Community Datathon 2026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2026-03-29T02:17:06Z</dcterms:created>
  <dcterms:modified xsi:type="dcterms:W3CDTF">2026-03-29T02:17:06Z</dcterms:modified>
</cp:coreProperties>
</file>