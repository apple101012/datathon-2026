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lobal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291840"/>
            <a:ext cx="12188952" cy="3566160"/>
          </a:xfrm>
          <a:prstGeom prst="rect">
            <a:avLst/>
          </a:prstGeom>
          <a:solidFill>
            <a:srgbClr val="08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5029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C4B6"/>
                </a:solidFill>
              </a:rPr>
              <a:t>SUSTAINABILITY &amp; CRITICAL INFRASTRUCTURE TRACK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155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Which Coral Reefs Are Most at Risk of Collapse
— and Who Loses?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4290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</a:rPr>
              <a:t>Using Real-World Bleaching Records, XGBoost &amp; SHAP
to Map Reef Collapse Risk onto 500M+ Reef-Dependent People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4572000"/>
            <a:ext cx="11430000" cy="13716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4663440"/>
            <a:ext cx="12188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C4B6"/>
                </a:solidFill>
              </a:rPr>
              <a:t>Shihab Jamal  ·  Visula Peduru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12064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SBU AI Community Datathon 2026   ·   March 28–29,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005840"/>
            <a:ext cx="54864" cy="502920"/>
          </a:xfrm>
          <a:prstGeom prst="rect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8755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WHY THIS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572768"/>
            <a:ext cx="11430000" cy="13716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65760" y="1874519"/>
            <a:ext cx="3291840" cy="1645920"/>
          </a:xfrm>
          <a:prstGeom prst="ellipse">
            <a:avLst/>
          </a:prstGeom>
          <a:solidFill>
            <a:srgbClr val="0D172B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bIns="50800" lIns="101600" rIns="101600"/>
          <a:lstStyle/>
          <a:p>
            <a:pPr algn="ctr"/>
            <a:r>
              <a:rPr sz="3000" b="1">
                <a:solidFill>
                  <a:srgbClr val="FF6F61"/>
                </a:solidFill>
              </a:rPr>
              <a:t>500M+</a:t>
            </a:r>
          </a:p>
          <a:p>
            <a:pPr algn="ctr"/>
            <a:r>
              <a:rPr sz="900">
                <a:solidFill>
                  <a:srgbClr val="CCCCCC"/>
                </a:solidFill>
              </a:rPr>
              <a:t>People depend on reefs
for food &amp; income</a:t>
            </a:r>
          </a:p>
        </p:txBody>
      </p:sp>
      <p:sp>
        <p:nvSpPr>
          <p:cNvPr id="6" name="Oval 5"/>
          <p:cNvSpPr/>
          <p:nvPr/>
        </p:nvSpPr>
        <p:spPr>
          <a:xfrm>
            <a:off x="3977639" y="1874519"/>
            <a:ext cx="3291840" cy="1645920"/>
          </a:xfrm>
          <a:prstGeom prst="ellipse">
            <a:avLst/>
          </a:prstGeom>
          <a:solidFill>
            <a:srgbClr val="0D172B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bIns="50800" lIns="101600" rIns="101600"/>
          <a:lstStyle/>
          <a:p>
            <a:pPr algn="ctr"/>
            <a:r>
              <a:rPr sz="3000" b="1">
                <a:solidFill>
                  <a:srgbClr val="2EC4B6"/>
                </a:solidFill>
              </a:rPr>
              <a:t>$36B</a:t>
            </a:r>
          </a:p>
          <a:p>
            <a:pPr algn="ctr"/>
            <a:r>
              <a:rPr sz="900">
                <a:solidFill>
                  <a:srgbClr val="CCCCCC"/>
                </a:solidFill>
              </a:rPr>
              <a:t>Annual reef tourism
revenue globally</a:t>
            </a:r>
          </a:p>
        </p:txBody>
      </p:sp>
      <p:sp>
        <p:nvSpPr>
          <p:cNvPr id="7" name="Oval 6"/>
          <p:cNvSpPr/>
          <p:nvPr/>
        </p:nvSpPr>
        <p:spPr>
          <a:xfrm>
            <a:off x="7589520" y="1874519"/>
            <a:ext cx="3291840" cy="1645920"/>
          </a:xfrm>
          <a:prstGeom prst="ellipse">
            <a:avLst/>
          </a:prstGeom>
          <a:solidFill>
            <a:srgbClr val="0D172B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bIns="50800" lIns="101600" rIns="101600"/>
          <a:lstStyle/>
          <a:p>
            <a:pPr algn="ctr"/>
            <a:r>
              <a:rPr sz="3000" b="1">
                <a:solidFill>
                  <a:srgbClr val="FFD166"/>
                </a:solidFill>
              </a:rPr>
              <a:t>$6.8B</a:t>
            </a:r>
          </a:p>
          <a:p>
            <a:pPr algn="ctr"/>
            <a:r>
              <a:rPr sz="900">
                <a:solidFill>
                  <a:srgbClr val="CCCCCC"/>
                </a:solidFill>
              </a:rPr>
              <a:t>Annual reef fisheries
revenue globally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7033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6 million small-scale fishers work reef fisheries — in many Pacific and Indian Ocean nations, reef fish is the primary daily protein source for coastal populations.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2976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Coral reefs also provide coastal protection: a 1-metre-high reef can absorb up to 97% of incoming wave energy, shielding $400B+ in coastal assets from storm surge and erosion.</a:t>
            </a:r>
          </a:p>
        </p:txBody>
      </p:sp>
      <p:pic>
        <p:nvPicPr>
          <p:cNvPr id="10" name="Picture 9" descr="bubbl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0"/>
            <a:ext cx="1161288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CCCCCC"/>
                </a:solidFill>
              </a:rPr>
              <a:t>NOAA Ocean Service; The Nature Conservancy Ocean Wealth (2021); World Bank Fisheries Employment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005840"/>
            <a:ext cx="54864" cy="502920"/>
          </a:xfrm>
          <a:prstGeom prst="rect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8755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THE CRISIS: 4TH GLOBAL BLEACHING EVENT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572768"/>
            <a:ext cx="11430000" cy="13716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" y="1920240"/>
            <a:ext cx="2560320" cy="960120"/>
          </a:xfrm>
          <a:prstGeom prst="ellipse">
            <a:avLst/>
          </a:prstGeom>
          <a:solidFill>
            <a:srgbClr val="0D172B"/>
          </a:solidFill>
          <a:ln w="254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/>
          <a:lstStyle/>
          <a:p>
            <a:pPr algn="ctr"/>
            <a:r>
              <a:rPr sz="2200" b="1">
                <a:solidFill>
                  <a:srgbClr val="CCCCCC"/>
                </a:solidFill>
              </a:rPr>
              <a:t>1998</a:t>
            </a:r>
          </a:p>
          <a:p>
            <a:pPr algn="ctr"/>
            <a:r>
              <a:rPr sz="1100">
                <a:solidFill>
                  <a:srgbClr val="FFFFFF"/>
                </a:solidFill>
              </a:rPr>
              <a:t>21% of reefs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2176272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CCCC"/>
                </a:solidFill>
              </a:rPr>
              <a:t>&gt;</a:t>
            </a:r>
          </a:p>
        </p:txBody>
      </p:sp>
      <p:sp>
        <p:nvSpPr>
          <p:cNvPr id="7" name="Oval 6"/>
          <p:cNvSpPr/>
          <p:nvPr/>
        </p:nvSpPr>
        <p:spPr>
          <a:xfrm>
            <a:off x="3337560" y="1920240"/>
            <a:ext cx="2560320" cy="960120"/>
          </a:xfrm>
          <a:prstGeom prst="ellipse">
            <a:avLst/>
          </a:prstGeom>
          <a:solidFill>
            <a:srgbClr val="0D172B"/>
          </a:solidFill>
          <a:ln w="254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/>
          <a:lstStyle/>
          <a:p>
            <a:pPr algn="ctr"/>
            <a:r>
              <a:rPr sz="2200" b="1">
                <a:solidFill>
                  <a:srgbClr val="CCCCCC"/>
                </a:solidFill>
              </a:rPr>
              <a:t>2010</a:t>
            </a:r>
          </a:p>
          <a:p>
            <a:pPr algn="ctr"/>
            <a:r>
              <a:rPr sz="1100">
                <a:solidFill>
                  <a:srgbClr val="FFFFFF"/>
                </a:solidFill>
              </a:rPr>
              <a:t>37% of reefs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7879" y="2176272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CCCC"/>
                </a:solidFill>
              </a:rPr>
              <a:t>&gt;</a:t>
            </a:r>
          </a:p>
        </p:txBody>
      </p:sp>
      <p:sp>
        <p:nvSpPr>
          <p:cNvPr id="9" name="Oval 8"/>
          <p:cNvSpPr/>
          <p:nvPr/>
        </p:nvSpPr>
        <p:spPr>
          <a:xfrm>
            <a:off x="6217920" y="1920240"/>
            <a:ext cx="2560320" cy="960120"/>
          </a:xfrm>
          <a:prstGeom prst="ellipse">
            <a:avLst/>
          </a:prstGeom>
          <a:solidFill>
            <a:srgbClr val="0D172B"/>
          </a:solidFill>
          <a:ln w="2540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/>
          <a:lstStyle/>
          <a:p>
            <a:pPr algn="ctr"/>
            <a:r>
              <a:rPr sz="2200" b="1">
                <a:solidFill>
                  <a:srgbClr val="FFD166"/>
                </a:solidFill>
              </a:rPr>
              <a:t>2014–17</a:t>
            </a:r>
          </a:p>
          <a:p>
            <a:pPr algn="ctr"/>
            <a:r>
              <a:rPr sz="1100">
                <a:solidFill>
                  <a:srgbClr val="FFFFFF"/>
                </a:solidFill>
              </a:rPr>
              <a:t>68% of reefs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2176272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CCCC"/>
                </a:solidFill>
              </a:rPr>
              <a:t>&gt;</a:t>
            </a:r>
          </a:p>
        </p:txBody>
      </p:sp>
      <p:sp>
        <p:nvSpPr>
          <p:cNvPr id="11" name="Oval 10"/>
          <p:cNvSpPr/>
          <p:nvPr/>
        </p:nvSpPr>
        <p:spPr>
          <a:xfrm>
            <a:off x="9098280" y="1920240"/>
            <a:ext cx="2560320" cy="960120"/>
          </a:xfrm>
          <a:prstGeom prst="ellipse">
            <a:avLst/>
          </a:prstGeom>
          <a:solidFill>
            <a:srgbClr val="0D172B"/>
          </a:solidFill>
          <a:ln w="25400">
            <a:solidFill>
              <a:srgbClr val="FF6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/>
          <a:lstStyle/>
          <a:p>
            <a:pPr algn="ctr"/>
            <a:r>
              <a:rPr sz="2200" b="1">
                <a:solidFill>
                  <a:srgbClr val="FF6F61"/>
                </a:solidFill>
              </a:rPr>
              <a:t>2023–25</a:t>
            </a:r>
          </a:p>
          <a:p>
            <a:pPr algn="ctr"/>
            <a:r>
              <a:rPr sz="1100">
                <a:solidFill>
                  <a:srgbClr val="FFFFFF"/>
                </a:solidFill>
              </a:rPr>
              <a:t>84% of reefs ⬆ ONGOING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0632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F61"/>
                </a:solidFill>
              </a:rPr>
              <a:t>⚠  84% of the world's reefs hit bleaching-level heat stress in a single event — across 82 countries.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566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99.7% of all Atlantic tropical reef areas experienced bleaching-level heat stress within a single year. The previous record was 68% (2014–2017). Before 1998, no global bleaching event had ever been recorded.</a:t>
            </a:r>
          </a:p>
        </p:txBody>
      </p:sp>
      <p:pic>
        <p:nvPicPr>
          <p:cNvPr id="14" name="Picture 13" descr="time_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343400"/>
            <a:ext cx="11612880" cy="23774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CCCCCC"/>
                </a:solidFill>
              </a:rPr>
              <a:t>ICRI (2025): icriforum.org/4gbe-2025  |  NOAA Coral Reef Watch (2024)  |  GCBD real-data time series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005840"/>
            <a:ext cx="54864" cy="502920"/>
          </a:xfrm>
          <a:prstGeom prst="rect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8755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NOAA RAN OUT OF NUMBERS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572768"/>
            <a:ext cx="11430000" cy="13716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C4B6"/>
                </a:solidFill>
              </a:rPr>
              <a:t>OLD SCALE (pre-2023)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2331720"/>
            <a:ext cx="5029200" cy="530352"/>
          </a:xfrm>
          <a:prstGeom prst="ellipse">
            <a:avLst/>
          </a:prstGeom>
          <a:solidFill>
            <a:srgbClr val="0D172B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/>
            <a:r>
              <a:rPr sz="1300" b="1">
                <a:solidFill>
                  <a:srgbClr val="CCCCCC"/>
                </a:solidFill>
              </a:rPr>
              <a:t>Watch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953512"/>
            <a:ext cx="5029200" cy="530352"/>
          </a:xfrm>
          <a:prstGeom prst="ellipse">
            <a:avLst/>
          </a:prstGeom>
          <a:solidFill>
            <a:srgbClr val="0D172B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/>
            <a:r>
              <a:rPr sz="1300" b="1">
                <a:solidFill>
                  <a:srgbClr val="FFD166"/>
                </a:solidFill>
              </a:rPr>
              <a:t>Warning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3575304"/>
            <a:ext cx="5029200" cy="530352"/>
          </a:xfrm>
          <a:prstGeom prst="ellipse">
            <a:avLst/>
          </a:prstGeom>
          <a:solidFill>
            <a:srgbClr val="0D172B"/>
          </a:solidFill>
          <a:ln w="19050">
            <a:solidFill>
              <a:srgbClr val="FF6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/>
            <a:r>
              <a:rPr sz="1300" b="1">
                <a:solidFill>
                  <a:srgbClr val="FF6F61"/>
                </a:solidFill>
              </a:rPr>
              <a:t>Alert Level 1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4197096"/>
            <a:ext cx="5029200" cy="530352"/>
          </a:xfrm>
          <a:prstGeom prst="ellipse">
            <a:avLst/>
          </a:prstGeom>
          <a:solidFill>
            <a:srgbClr val="0D172B"/>
          </a:solidFill>
          <a:ln w="1905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/>
            <a:r>
              <a:rPr sz="1300" b="1">
                <a:solidFill>
                  <a:srgbClr val="CC2222"/>
                </a:solidFill>
              </a:rPr>
              <a:t>Alert Level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874519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6F61"/>
                </a:solidFill>
              </a:rPr>
              <a:t>NEW SCALE (December 2023)</a:t>
            </a:r>
          </a:p>
        </p:txBody>
      </p:sp>
      <p:sp>
        <p:nvSpPr>
          <p:cNvPr id="11" name="Oval 10"/>
          <p:cNvSpPr/>
          <p:nvPr/>
        </p:nvSpPr>
        <p:spPr>
          <a:xfrm>
            <a:off x="6217920" y="2331720"/>
            <a:ext cx="5394960" cy="457200"/>
          </a:xfrm>
          <a:prstGeom prst="ellipse">
            <a:avLst/>
          </a:prstGeom>
          <a:solidFill>
            <a:srgbClr val="0D172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/>
            <a:r>
              <a:rPr sz="1200" b="0">
                <a:solidFill>
                  <a:srgbClr val="CCCCCC"/>
                </a:solidFill>
              </a:rPr>
              <a:t>Watch</a:t>
            </a:r>
          </a:p>
        </p:txBody>
      </p:sp>
      <p:sp>
        <p:nvSpPr>
          <p:cNvPr id="12" name="Oval 11"/>
          <p:cNvSpPr/>
          <p:nvPr/>
        </p:nvSpPr>
        <p:spPr>
          <a:xfrm>
            <a:off x="6217920" y="2862072"/>
            <a:ext cx="5394960" cy="457200"/>
          </a:xfrm>
          <a:prstGeom prst="ellipse">
            <a:avLst/>
          </a:prstGeom>
          <a:solidFill>
            <a:srgbClr val="0D172B"/>
          </a:solidFill>
          <a:ln w="1270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/>
            <a:r>
              <a:rPr sz="1200" b="0">
                <a:solidFill>
                  <a:srgbClr val="FFD166"/>
                </a:solidFill>
              </a:rPr>
              <a:t>Warning</a:t>
            </a:r>
          </a:p>
        </p:txBody>
      </p:sp>
      <p:sp>
        <p:nvSpPr>
          <p:cNvPr id="13" name="Oval 12"/>
          <p:cNvSpPr/>
          <p:nvPr/>
        </p:nvSpPr>
        <p:spPr>
          <a:xfrm>
            <a:off x="6217920" y="3392424"/>
            <a:ext cx="5394960" cy="457200"/>
          </a:xfrm>
          <a:prstGeom prst="ellipse">
            <a:avLst/>
          </a:prstGeom>
          <a:solidFill>
            <a:srgbClr val="0D172B"/>
          </a:solidFill>
          <a:ln w="12700">
            <a:solidFill>
              <a:srgbClr val="FF6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/>
            <a:r>
              <a:rPr sz="1200" b="0">
                <a:solidFill>
                  <a:srgbClr val="FF6F61"/>
                </a:solidFill>
              </a:rPr>
              <a:t>Alert Level 1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0" y="3922775"/>
            <a:ext cx="5394960" cy="457200"/>
          </a:xfrm>
          <a:prstGeom prst="ellipse">
            <a:avLst/>
          </a:prstGeom>
          <a:solidFill>
            <a:srgbClr val="0D172B"/>
          </a:solidFill>
          <a:ln w="1270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/>
            <a:r>
              <a:rPr sz="1200" b="0">
                <a:solidFill>
                  <a:srgbClr val="CC2222"/>
                </a:solidFill>
              </a:rPr>
              <a:t>Alert Level 2</a:t>
            </a:r>
          </a:p>
        </p:txBody>
      </p:sp>
      <p:sp>
        <p:nvSpPr>
          <p:cNvPr id="15" name="Oval 14"/>
          <p:cNvSpPr/>
          <p:nvPr/>
        </p:nvSpPr>
        <p:spPr>
          <a:xfrm>
            <a:off x="6217920" y="4453127"/>
            <a:ext cx="5394960" cy="457200"/>
          </a:xfrm>
          <a:prstGeom prst="ellipse">
            <a:avLst/>
          </a:prstGeom>
          <a:solidFill>
            <a:srgbClr val="AA0000"/>
          </a:solidFill>
          <a:ln w="25400">
            <a:solidFill>
              <a:srgbClr val="A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Alert Level 3  NEW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4983479"/>
            <a:ext cx="5394960" cy="457200"/>
          </a:xfrm>
          <a:prstGeom prst="ellipse">
            <a:avLst/>
          </a:prstGeom>
          <a:solidFill>
            <a:srgbClr val="880000"/>
          </a:solidFill>
          <a:ln w="25400">
            <a:solidFill>
              <a:srgbClr val="88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Alert Level 4  NEW</a:t>
            </a:r>
          </a:p>
        </p:txBody>
      </p:sp>
      <p:sp>
        <p:nvSpPr>
          <p:cNvPr id="17" name="Oval 16"/>
          <p:cNvSpPr/>
          <p:nvPr/>
        </p:nvSpPr>
        <p:spPr>
          <a:xfrm>
            <a:off x="6217920" y="5513831"/>
            <a:ext cx="5394960" cy="457200"/>
          </a:xfrm>
          <a:prstGeom prst="ellipse">
            <a:avLst/>
          </a:prstGeom>
          <a:solidFill>
            <a:srgbClr val="660000"/>
          </a:solidFill>
          <a:ln w="25400">
            <a:solidFill>
              <a:srgbClr val="6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Alert Level 5  NEW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17220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CCCC"/>
                </a:solidFill>
              </a:rPr>
              <a:t>Alert Level 5 = &gt;80% coral mortality risk. "When your measurement tool runs out of room, the problem has outpaced our expectations."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CCCCCC"/>
                </a:solidFill>
              </a:rPr>
              <a:t>NOAA Climate.gov (Dec 2023): climate.gov/news-features/featured-images/noaa-coral-reef-watch-extends-alert-scale-following-extreme-coral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005840"/>
            <a:ext cx="54864" cy="50292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875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OUR DATA: THE GLOBAL CORAL BLEACHING DATABASE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572768"/>
            <a:ext cx="11430000" cy="13716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65760" y="1874519"/>
            <a:ext cx="2560320" cy="1371600"/>
          </a:xfrm>
          <a:prstGeom prst="ellipse">
            <a:avLst/>
          </a:prstGeom>
          <a:solidFill>
            <a:srgbClr val="0D172B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bIns="50800" lIns="101600" rIns="101600"/>
          <a:lstStyle/>
          <a:p>
            <a:pPr algn="ctr"/>
            <a:r>
              <a:rPr sz="3000" b="1">
                <a:solidFill>
                  <a:srgbClr val="2EC4B6"/>
                </a:solidFill>
              </a:rPr>
              <a:t>8,973</a:t>
            </a:r>
          </a:p>
          <a:p>
            <a:pPr algn="ctr"/>
            <a:r>
              <a:rPr sz="900">
                <a:solidFill>
                  <a:srgbClr val="CCCCCC"/>
                </a:solidFill>
              </a:rPr>
              <a:t>Bleaching survey records
(1980–2020)</a:t>
            </a:r>
          </a:p>
        </p:txBody>
      </p:sp>
      <p:sp>
        <p:nvSpPr>
          <p:cNvPr id="6" name="Oval 5"/>
          <p:cNvSpPr/>
          <p:nvPr/>
        </p:nvSpPr>
        <p:spPr>
          <a:xfrm>
            <a:off x="3154680" y="1874519"/>
            <a:ext cx="2560320" cy="1371600"/>
          </a:xfrm>
          <a:prstGeom prst="ellipse">
            <a:avLst/>
          </a:prstGeom>
          <a:solidFill>
            <a:srgbClr val="0D172B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bIns="50800" lIns="101600" rIns="101600"/>
          <a:lstStyle/>
          <a:p>
            <a:pPr algn="ctr"/>
            <a:r>
              <a:rPr sz="3000" b="1">
                <a:solidFill>
                  <a:srgbClr val="2EC4B6"/>
                </a:solidFill>
              </a:rPr>
              <a:t>93</a:t>
            </a:r>
          </a:p>
          <a:p>
            <a:pPr algn="ctr"/>
            <a:r>
              <a:rPr sz="900">
                <a:solidFill>
                  <a:srgbClr val="CCCCCC"/>
                </a:solidFill>
              </a:rPr>
              <a:t>Countries represented</a:t>
            </a:r>
          </a:p>
        </p:txBody>
      </p:sp>
      <p:sp>
        <p:nvSpPr>
          <p:cNvPr id="7" name="Oval 6"/>
          <p:cNvSpPr/>
          <p:nvPr/>
        </p:nvSpPr>
        <p:spPr>
          <a:xfrm>
            <a:off x="5943600" y="1874519"/>
            <a:ext cx="2560320" cy="1371600"/>
          </a:xfrm>
          <a:prstGeom prst="ellipse">
            <a:avLst/>
          </a:prstGeom>
          <a:solidFill>
            <a:srgbClr val="0D172B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bIns="50800" lIns="101600" rIns="101600"/>
          <a:lstStyle/>
          <a:p>
            <a:pPr algn="ctr"/>
            <a:r>
              <a:rPr sz="3000" b="1">
                <a:solidFill>
                  <a:srgbClr val="2EC4B6"/>
                </a:solidFill>
              </a:rPr>
              <a:t>40 yrs</a:t>
            </a:r>
          </a:p>
          <a:p>
            <a:pPr algn="ctr"/>
            <a:r>
              <a:rPr sz="900">
                <a:solidFill>
                  <a:srgbClr val="CCCCCC"/>
                </a:solidFill>
              </a:rPr>
              <a:t>Historical time span</a:t>
            </a:r>
          </a:p>
        </p:txBody>
      </p:sp>
      <p:sp>
        <p:nvSpPr>
          <p:cNvPr id="8" name="Oval 7"/>
          <p:cNvSpPr/>
          <p:nvPr/>
        </p:nvSpPr>
        <p:spPr>
          <a:xfrm>
            <a:off x="8732520" y="1874519"/>
            <a:ext cx="2560320" cy="1371600"/>
          </a:xfrm>
          <a:prstGeom prst="ellipse">
            <a:avLst/>
          </a:prstGeom>
          <a:solidFill>
            <a:srgbClr val="0D172B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bIns="50800" lIns="101600" rIns="101600"/>
          <a:lstStyle/>
          <a:p>
            <a:pPr algn="ctr"/>
            <a:r>
              <a:rPr sz="3000" b="1">
                <a:solidFill>
                  <a:srgbClr val="FF6F61"/>
                </a:solidFill>
              </a:rPr>
              <a:t>20.6%</a:t>
            </a:r>
          </a:p>
          <a:p>
            <a:pPr algn="ctr"/>
            <a:r>
              <a:rPr sz="900">
                <a:solidFill>
                  <a:srgbClr val="CCCCCC"/>
                </a:solidFill>
              </a:rPr>
              <a:t>Mean bleaching severity
across all 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429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4B6"/>
                </a:solidFill>
              </a:rPr>
              <a:t>Key Variables: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79476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C4B6"/>
                </a:solidFill>
              </a:rPr>
              <a:t>Percent_Bleaching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3794760"/>
            <a:ext cx="7955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Target: % of colony affected by bleaching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19709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C4B6"/>
                </a:solidFill>
              </a:rPr>
              <a:t>SSTA_DHW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4197096"/>
            <a:ext cx="7955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Degree Heating Weeks — accumulated thermal stress above coral tolerance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59943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C4B6"/>
                </a:solidFill>
              </a:rPr>
              <a:t>SSTA_Standard_Deviation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4599432"/>
            <a:ext cx="7955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Thermal variability — key resilience indicator (Sully et al. 2019)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00176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C4B6"/>
                </a:solidFill>
              </a:rPr>
              <a:t>ClimSST / Temperature_Mean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5001768"/>
            <a:ext cx="7955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Climatological baseline and observed SST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40410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C4B6"/>
                </a:solidFill>
              </a:rPr>
              <a:t>Depth_m, Turbidity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5404104"/>
            <a:ext cx="7955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Physical reef characteristics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580644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C4B6"/>
                </a:solidFill>
              </a:rPr>
              <a:t>Country / Ocean / Ecoregion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5806440"/>
            <a:ext cx="7955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Geographic identifiers for regional modeling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12648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CCCC"/>
                </a:solidFill>
              </a:rPr>
              <a:t>Source: van Woesik &amp; Kratochwill (2022), Nature Scientific Data. SQLite: doi.org/10.6084/m9.figshare.c.5314466
Supplementary: NOAA Coral Reef Watch 5km Daily SST products (1985–present)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CCCCCC"/>
                </a:solidFill>
              </a:rPr>
              <a:t>van Woesik &amp; Kratochwill (2022), Scientific Data 9, 166  |  NOAA Coral Reef Watch (2023)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005840"/>
            <a:ext cx="54864" cy="50292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8755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WHAT THE DATA TOLD US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572768"/>
            <a:ext cx="11430000" cy="13716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65760" y="1874519"/>
            <a:ext cx="2743200" cy="1371600"/>
          </a:xfrm>
          <a:prstGeom prst="ellipse">
            <a:avLst/>
          </a:prstGeom>
          <a:solidFill>
            <a:srgbClr val="0D172B"/>
          </a:solidFill>
          <a:ln w="19050">
            <a:solidFill>
              <a:srgbClr val="FF6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lIns="127000"/>
          <a:lstStyle/>
          <a:p>
            <a:pPr algn="ctr"/>
            <a:r>
              <a:rPr sz="2600" b="1">
                <a:solidFill>
                  <a:srgbClr val="FF6F61"/>
                </a:solidFill>
              </a:rPr>
              <a:t>3.4x</a:t>
            </a:r>
          </a:p>
          <a:p>
            <a:r>
              <a:rPr sz="900">
                <a:solidFill>
                  <a:srgbClr val="FFFFFF"/>
                </a:solidFill>
              </a:rPr>
              <a:t>Median bleaching post-2015
(7.1% → 24.0%, p = 10⁻⁵⁷)</a:t>
            </a:r>
          </a:p>
        </p:txBody>
      </p:sp>
      <p:sp>
        <p:nvSpPr>
          <p:cNvPr id="6" name="Oval 5"/>
          <p:cNvSpPr/>
          <p:nvPr/>
        </p:nvSpPr>
        <p:spPr>
          <a:xfrm>
            <a:off x="3291840" y="1874519"/>
            <a:ext cx="2743200" cy="1371600"/>
          </a:xfrm>
          <a:prstGeom prst="ellipse">
            <a:avLst/>
          </a:prstGeom>
          <a:solidFill>
            <a:srgbClr val="0D172B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lIns="127000"/>
          <a:lstStyle/>
          <a:p>
            <a:pPr algn="ctr"/>
            <a:r>
              <a:rPr sz="2600" b="1">
                <a:solidFill>
                  <a:srgbClr val="2EC4B6"/>
                </a:solidFill>
              </a:rPr>
              <a:t>#1</a:t>
            </a:r>
          </a:p>
          <a:p>
            <a:r>
              <a:rPr sz="900">
                <a:solidFill>
                  <a:srgbClr val="FFFFFF"/>
                </a:solidFill>
              </a:rPr>
              <a:t>Top SHAP predictor:
SST Thermal Variability (6.76)</a:t>
            </a:r>
          </a:p>
        </p:txBody>
      </p:sp>
      <p:sp>
        <p:nvSpPr>
          <p:cNvPr id="7" name="Oval 6"/>
          <p:cNvSpPr/>
          <p:nvPr/>
        </p:nvSpPr>
        <p:spPr>
          <a:xfrm>
            <a:off x="6217920" y="1874519"/>
            <a:ext cx="2743200" cy="1371600"/>
          </a:xfrm>
          <a:prstGeom prst="ellipse">
            <a:avLst/>
          </a:prstGeom>
          <a:solidFill>
            <a:srgbClr val="0D172B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lIns="127000"/>
          <a:lstStyle/>
          <a:p>
            <a:pPr algn="ctr"/>
            <a:r>
              <a:rPr sz="2600" b="1">
                <a:solidFill>
                  <a:srgbClr val="FFD166"/>
                </a:solidFill>
              </a:rPr>
              <a:t>+0.35</a:t>
            </a:r>
          </a:p>
          <a:p>
            <a:r>
              <a:rPr sz="900">
                <a:solidFill>
                  <a:srgbClr val="FFFFFF"/>
                </a:solidFill>
              </a:rPr>
              <a:t>Spearman ρ: Degree Heating
Weeks vs. bleaching</a:t>
            </a:r>
          </a:p>
        </p:txBody>
      </p:sp>
      <p:sp>
        <p:nvSpPr>
          <p:cNvPr id="8" name="Oval 7"/>
          <p:cNvSpPr/>
          <p:nvPr/>
        </p:nvSpPr>
        <p:spPr>
          <a:xfrm>
            <a:off x="9144000" y="1874519"/>
            <a:ext cx="2743200" cy="1371600"/>
          </a:xfrm>
          <a:prstGeom prst="ellipse">
            <a:avLst/>
          </a:prstGeom>
          <a:solidFill>
            <a:srgbClr val="0D172B"/>
          </a:solidFill>
          <a:ln w="19050">
            <a:solidFill>
              <a:srgbClr val="FF6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lIns="127000"/>
          <a:lstStyle/>
          <a:p>
            <a:pPr algn="ctr"/>
            <a:r>
              <a:rPr sz="2600" b="1">
                <a:solidFill>
                  <a:srgbClr val="FF6F61"/>
                </a:solidFill>
              </a:rPr>
              <a:t>100%</a:t>
            </a:r>
          </a:p>
          <a:p>
            <a:r>
              <a:rPr sz="900">
                <a:solidFill>
                  <a:srgbClr val="FFFFFF"/>
                </a:solidFill>
              </a:rPr>
              <a:t>Bleaching in Philippines,
Japan &amp; Pacific SIDS ecoregions</a:t>
            </a:r>
          </a:p>
        </p:txBody>
      </p:sp>
      <p:pic>
        <p:nvPicPr>
          <p:cNvPr id="9" name="Picture 8" descr="time_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429000"/>
            <a:ext cx="5760720" cy="3200400"/>
          </a:xfrm>
          <a:prstGeom prst="rect">
            <a:avLst/>
          </a:prstGeom>
        </p:spPr>
      </p:pic>
      <p:pic>
        <p:nvPicPr>
          <p:cNvPr id="10" name="Picture 9" descr="heatmap_reg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3429000"/>
            <a:ext cx="5760720" cy="3200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CCCCCC"/>
                </a:solidFill>
              </a:rPr>
              <a:t>GCBD (8,973 records, 1980–2020); Mann-Whitney U test pre-2015 vs 2015–2020: p = 1.00×10⁻⁵⁷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005840"/>
            <a:ext cx="54864" cy="50292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8755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OUR APPROACH: XGBOOST + SHAP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572768"/>
            <a:ext cx="11430000" cy="13716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" y="1920240"/>
            <a:ext cx="1920240" cy="914400"/>
          </a:xfrm>
          <a:prstGeom prst="ellipse">
            <a:avLst/>
          </a:prstGeom>
          <a:solidFill>
            <a:srgbClr val="0D172B"/>
          </a:solidFill>
          <a:ln w="254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CCCCCC"/>
                </a:solidFill>
              </a:rPr>
              <a:t>Raw GCBD
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221284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CCCC"/>
                </a:solidFill>
              </a:rPr>
              <a:t>&gt;</a:t>
            </a:r>
          </a:p>
        </p:txBody>
      </p:sp>
      <p:sp>
        <p:nvSpPr>
          <p:cNvPr id="7" name="Oval 6"/>
          <p:cNvSpPr/>
          <p:nvPr/>
        </p:nvSpPr>
        <p:spPr>
          <a:xfrm>
            <a:off x="2697480" y="1920240"/>
            <a:ext cx="1920240" cy="914400"/>
          </a:xfrm>
          <a:prstGeom prst="ellipse">
            <a:avLst/>
          </a:prstGeom>
          <a:solidFill>
            <a:srgbClr val="0D172B"/>
          </a:solidFill>
          <a:ln w="2540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EC4B6"/>
                </a:solidFill>
              </a:rPr>
              <a:t>Feature
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720" y="221284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CCCC"/>
                </a:solidFill>
              </a:rPr>
              <a:t>&gt;</a:t>
            </a:r>
          </a:p>
        </p:txBody>
      </p:sp>
      <p:sp>
        <p:nvSpPr>
          <p:cNvPr id="9" name="Oval 8"/>
          <p:cNvSpPr/>
          <p:nvPr/>
        </p:nvSpPr>
        <p:spPr>
          <a:xfrm>
            <a:off x="4937760" y="1920240"/>
            <a:ext cx="1920240" cy="914400"/>
          </a:xfrm>
          <a:prstGeom prst="ellipse">
            <a:avLst/>
          </a:prstGeom>
          <a:solidFill>
            <a:srgbClr val="0D172B"/>
          </a:solidFill>
          <a:ln w="25400">
            <a:solidFill>
              <a:srgbClr val="FF6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6F61"/>
                </a:solidFill>
              </a:rPr>
              <a:t>XGBoost
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21284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CCCC"/>
                </a:solidFill>
              </a:rPr>
              <a:t>&gt;</a:t>
            </a:r>
          </a:p>
        </p:txBody>
      </p:sp>
      <p:sp>
        <p:nvSpPr>
          <p:cNvPr id="11" name="Oval 10"/>
          <p:cNvSpPr/>
          <p:nvPr/>
        </p:nvSpPr>
        <p:spPr>
          <a:xfrm>
            <a:off x="7178040" y="1920240"/>
            <a:ext cx="1920240" cy="914400"/>
          </a:xfrm>
          <a:prstGeom prst="ellipse">
            <a:avLst/>
          </a:prstGeom>
          <a:solidFill>
            <a:srgbClr val="0D172B"/>
          </a:solidFill>
          <a:ln w="2540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EC4B6"/>
                </a:solidFill>
              </a:rPr>
              <a:t>SHAP
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98280" y="221284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CCCC"/>
                </a:solidFill>
              </a:rPr>
              <a:t>&gt;</a:t>
            </a:r>
          </a:p>
        </p:txBody>
      </p:sp>
      <p:sp>
        <p:nvSpPr>
          <p:cNvPr id="13" name="Oval 12"/>
          <p:cNvSpPr/>
          <p:nvPr/>
        </p:nvSpPr>
        <p:spPr>
          <a:xfrm>
            <a:off x="9418320" y="1920240"/>
            <a:ext cx="1920240" cy="914400"/>
          </a:xfrm>
          <a:prstGeom prst="ellipse">
            <a:avLst/>
          </a:prstGeom>
          <a:solidFill>
            <a:srgbClr val="0D172B"/>
          </a:solidFill>
          <a:ln w="25400">
            <a:solidFill>
              <a:srgbClr val="FF6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6F61"/>
                </a:solidFill>
              </a:rPr>
              <a:t>Risk
Predictions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0632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Why XGBoost — not a CNN?</a:t>
            </a:r>
          </a:p>
        </p:txBody>
      </p:sp>
      <p:sp>
        <p:nvSpPr>
          <p:cNvPr id="15" name="Oval 14"/>
          <p:cNvSpPr/>
          <p:nvPr/>
        </p:nvSpPr>
        <p:spPr>
          <a:xfrm>
            <a:off x="365760" y="3474720"/>
            <a:ext cx="11430000" cy="777240"/>
          </a:xfrm>
          <a:prstGeom prst="ellipse">
            <a:avLst/>
          </a:prstGeom>
          <a:solidFill>
            <a:srgbClr val="0D172B"/>
          </a:solidFill>
          <a:ln w="1270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/>
          <a:lstStyle/>
          <a:p>
            <a:pPr algn="ctr"/>
            <a:r>
              <a:rPr sz="1100" i="1">
                <a:solidFill>
                  <a:srgbClr val="CCCCCC"/>
                </a:solidFill>
              </a:rPr>
              <a:t>"I tried using a CNN model... very high RMSEs. Decision trees and gradient boosting outperformed everything else on tabular satellite-derived water quality data."</a:t>
            </a:r>
          </a:p>
          <a:p>
            <a:r>
              <a:rPr sz="900">
                <a:solidFill>
                  <a:srgbClr val="2EC4B6"/>
                </a:solidFill>
              </a:rPr>
              <a:t>— Yang Xu, 1st place, NASA Tick Tick Bloom Challenge (DrivenData 2023)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4348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Temporal Validation: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8006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Train: pre-2015  (8,259 samples)  →  Test: 2015–2020  (714 samples)  — the mass bleaching era models had never seen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2120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</a:rPr>
              <a:t>This intentionally hard split tests whether patterns from historical reefs can predict the unprecedented 2015–2020 events. Any leakage would artificially inflate accuracy.</a:t>
            </a:r>
          </a:p>
        </p:txBody>
      </p:sp>
      <p:pic>
        <p:nvPicPr>
          <p:cNvPr id="19" name="Picture 18" descr="model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715000"/>
            <a:ext cx="11612880" cy="10058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CCCCCC"/>
                </a:solidFill>
              </a:rPr>
              <a:t>drivendata.co/blog/tick-tick-bloom-challenge-winners  |  GCBD temporal split results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005840"/>
            <a:ext cx="54864" cy="502920"/>
          </a:xfrm>
          <a:prstGeom prst="rect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875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KEY FINDING 1: WHICH REEFS ARE MOST AT RISK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572768"/>
            <a:ext cx="11430000" cy="13716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874519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C4B6"/>
                </a:solidFill>
              </a:rPr>
              <a:t>Region / Country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874519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C4B6"/>
                </a:solidFill>
              </a:rPr>
              <a:t>Mean Bleaching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57800" y="1874519"/>
            <a:ext cx="1874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C4B6"/>
                </a:solidFill>
              </a:rPr>
              <a:t>SHAP Driver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286000"/>
            <a:ext cx="11430000" cy="13716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2414016"/>
            <a:ext cx="3154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N. Philippines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414016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6F61"/>
                </a:solidFill>
              </a:rPr>
              <a:t>95.0%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57800" y="2414016"/>
            <a:ext cx="187451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DHW + Depth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2898648"/>
            <a:ext cx="3154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Japan (Ryukyu Islands)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898648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6F61"/>
                </a:solidFill>
              </a:rPr>
              <a:t>87.7%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2898648"/>
            <a:ext cx="187451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DHW + ClimSST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3383280"/>
            <a:ext cx="3154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Easter Island, Pacific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383280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6F61"/>
                </a:solidFill>
              </a:rPr>
              <a:t>87.5%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3383280"/>
            <a:ext cx="187451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DHW 15.5 wks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3867912"/>
            <a:ext cx="3154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Persian Gulf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3867912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6F61"/>
                </a:solidFill>
              </a:rPr>
              <a:t>87.0%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3867912"/>
            <a:ext cx="187451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ClimSST + Turbidity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4352544"/>
            <a:ext cx="3154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Thailand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4352544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D166"/>
                </a:solidFill>
              </a:rPr>
              <a:t>71.9%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7800" y="4352544"/>
            <a:ext cx="187451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DHW + ClimSST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4837176"/>
            <a:ext cx="3154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Madagascar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4837176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D166"/>
                </a:solidFill>
              </a:rPr>
              <a:t>65.4%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57800" y="4837176"/>
            <a:ext cx="187451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SSTA Variability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5321808"/>
            <a:ext cx="3154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Indonesia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5321808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57.3%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57800" y="5321808"/>
            <a:ext cx="187451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DHW + Exposure</a:t>
            </a:r>
          </a:p>
        </p:txBody>
      </p:sp>
      <p:pic>
        <p:nvPicPr>
          <p:cNvPr id="30" name="Picture 29" descr="top10_count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737360"/>
            <a:ext cx="4754880" cy="2926080"/>
          </a:xfrm>
          <a:prstGeom prst="rect">
            <a:avLst/>
          </a:prstGeom>
        </p:spPr>
      </p:pic>
      <p:pic>
        <p:nvPicPr>
          <p:cNvPr id="31" name="Picture 30" descr="corre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709160"/>
            <a:ext cx="4754880" cy="20574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320040" y="5760720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SHAP Top Features: SSTA_SD (6.76) · SSTA_DHW (6.22) · ClimSST (3.01) · Temp_Mean (2.98) · Cyclone_Freq (2.41)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CCCCCC"/>
                </a:solidFill>
              </a:rPr>
              <a:t>GCBD real-data results; XGBoost trained on 8,259 pre-2015 records, tested on 714 records (2015–2020)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005840"/>
            <a:ext cx="54864" cy="50292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875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KEY FINDING 2: THE THERMAL VARIABILITY PARADOX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572768"/>
            <a:ext cx="11430000" cy="13716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65760" y="1737360"/>
            <a:ext cx="5486400" cy="1920240"/>
          </a:xfrm>
          <a:prstGeom prst="ellipse">
            <a:avLst/>
          </a:prstGeom>
          <a:solidFill>
            <a:srgbClr val="0D172B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27000" rIns="101600"/>
          <a:lstStyle/>
          <a:p>
            <a:pPr algn="ctr"/>
            <a:r>
              <a:rPr sz="1200" b="1">
                <a:solidFill>
                  <a:srgbClr val="2EC4B6"/>
                </a:solidFill>
              </a:rPr>
              <a:t>🔬  The Science (Sully et al. 2019):</a:t>
            </a:r>
          </a:p>
          <a:p>
            <a:pPr>
              <a:spcBef>
                <a:spcPts val="400"/>
              </a:spcBef>
            </a:pPr>
            <a:r>
              <a:rPr sz="1000" i="1">
                <a:solidFill>
                  <a:srgbClr val="FFFFFF"/>
                </a:solidFill>
              </a:rPr>
              <a:t>"Coral bleaching was significantly LESS common in localities with a HIGH VARIANCE in SST anomalies. Periodic temperature swings appear to pre-condition thermal tolerance. Stable-temperature reefs are paradoxically more fragile."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2EC4B6"/>
                </a:solidFill>
              </a:rPr>
              <a:t>Nature Communications (2019) — analysis of 3,351 reef sites globally</a:t>
            </a:r>
          </a:p>
        </p:txBody>
      </p:sp>
      <p:sp>
        <p:nvSpPr>
          <p:cNvPr id="6" name="Oval 5"/>
          <p:cNvSpPr/>
          <p:nvPr/>
        </p:nvSpPr>
        <p:spPr>
          <a:xfrm>
            <a:off x="365760" y="3749039"/>
            <a:ext cx="5486400" cy="1828800"/>
          </a:xfrm>
          <a:prstGeom prst="ellipse">
            <a:avLst/>
          </a:prstGeom>
          <a:solidFill>
            <a:srgbClr val="0D172B"/>
          </a:solidFill>
          <a:ln w="19050">
            <a:solidFill>
              <a:srgbClr val="FF6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27000" rIns="101600"/>
          <a:lstStyle/>
          <a:p>
            <a:pPr algn="ctr"/>
            <a:r>
              <a:rPr sz="1200" b="1">
                <a:solidFill>
                  <a:srgbClr val="FF6F61"/>
                </a:solidFill>
              </a:rPr>
              <a:t>📊  What Our GCBD Analysis Found: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FFFFF"/>
                </a:solidFill>
              </a:rPr>
              <a:t>SSTA_SD is the #1 SHAP predictor (importance = 6.76). The raw Spearman ρ = +0.454 reflects that sites experiencing extreme thermal events show both high SSTA_SD and high bleaching simultaneously. SHAP decomposes the directional effect at the individual prediction level.</a:t>
            </a:r>
          </a:p>
        </p:txBody>
      </p:sp>
      <p:pic>
        <p:nvPicPr>
          <p:cNvPr id="7" name="Picture 6" descr="sst_vari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691640"/>
            <a:ext cx="6035040" cy="3291840"/>
          </a:xfrm>
          <a:prstGeom prst="rect">
            <a:avLst/>
          </a:prstGeom>
        </p:spPr>
      </p:pic>
      <p:pic>
        <p:nvPicPr>
          <p:cNvPr id="8" name="Picture 7" descr="shap_beeswa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5029200"/>
            <a:ext cx="6035040" cy="1645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CCCCCC"/>
                </a:solidFill>
              </a:rPr>
              <a:t>Sully et al. (2019), Nature Communications doi:10.1038/s41467-019-09238-2  |  GCBD analysis (8,973 records)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005840"/>
            <a:ext cx="54864" cy="502920"/>
          </a:xfrm>
          <a:prstGeom prst="rect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875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WHEN REEFS COLLAPSE, COMMUNITIES COLLAPSE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572768"/>
            <a:ext cx="11430000" cy="13716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828800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C4B6"/>
                </a:solidFill>
              </a:rPr>
              <a:t>Country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828800"/>
            <a:ext cx="1234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C4B6"/>
                </a:solidFill>
              </a:rPr>
              <a:t>Bleaching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77639" y="1828800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C4B6"/>
                </a:solidFill>
              </a:rPr>
              <a:t>Reef Depend.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49240" y="1828800"/>
            <a:ext cx="1143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C4B6"/>
                </a:solidFill>
              </a:rPr>
              <a:t>Risk Score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212848"/>
            <a:ext cx="11430000" cy="13716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2322576"/>
            <a:ext cx="2240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Palau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322576"/>
            <a:ext cx="123443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6F61"/>
                </a:solidFill>
              </a:rPr>
              <a:t>75.0%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39" y="2322576"/>
            <a:ext cx="1325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91%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9240" y="2322576"/>
            <a:ext cx="1143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6F61"/>
                </a:solidFill>
              </a:rPr>
              <a:t>0.976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798064"/>
            <a:ext cx="2240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Indonesia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2798064"/>
            <a:ext cx="123443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6F61"/>
                </a:solidFill>
              </a:rPr>
              <a:t>57.3%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39" y="2798064"/>
            <a:ext cx="1325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85%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798064"/>
            <a:ext cx="1143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6F61"/>
                </a:solidFill>
              </a:rPr>
              <a:t>0.816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3273552"/>
            <a:ext cx="2240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Fiji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3273552"/>
            <a:ext cx="123443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6F61"/>
                </a:solidFill>
              </a:rPr>
              <a:t>48.2%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77639" y="3273552"/>
            <a:ext cx="1325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88%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9240" y="3273552"/>
            <a:ext cx="1143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D166"/>
                </a:solidFill>
              </a:rPr>
              <a:t>0.770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3749040"/>
            <a:ext cx="2240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Madagascar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3749040"/>
            <a:ext cx="123443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6F61"/>
                </a:solidFill>
              </a:rPr>
              <a:t>65.4%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77639" y="3749040"/>
            <a:ext cx="1325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65%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9240" y="3749040"/>
            <a:ext cx="1143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D166"/>
                </a:solidFill>
              </a:rPr>
              <a:t>0.752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4224528"/>
            <a:ext cx="2240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Philippines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1760" y="4224528"/>
            <a:ext cx="123443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6F61"/>
                </a:solidFill>
              </a:rPr>
              <a:t>48.9%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77639" y="4224528"/>
            <a:ext cx="1325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82%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49240" y="4224528"/>
            <a:ext cx="1143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D166"/>
                </a:solidFill>
              </a:rPr>
              <a:t>0.738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4700016"/>
            <a:ext cx="2240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Marshall Islands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51760" y="4700016"/>
            <a:ext cx="123443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6F61"/>
                </a:solidFill>
              </a:rPr>
              <a:t>38.4%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77639" y="4700016"/>
            <a:ext cx="1325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93%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49240" y="4700016"/>
            <a:ext cx="1143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D166"/>
                </a:solidFill>
              </a:rPr>
              <a:t>0.731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" y="5175504"/>
            <a:ext cx="2240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Papua New Guinea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51760" y="5175504"/>
            <a:ext cx="123443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6F61"/>
                </a:solidFill>
              </a:rPr>
              <a:t>49.9%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77639" y="5175504"/>
            <a:ext cx="1325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78%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49240" y="5175504"/>
            <a:ext cx="1143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D166"/>
                </a:solidFill>
              </a:rPr>
              <a:t>0.721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" y="5650992"/>
            <a:ext cx="2240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Thailand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51760" y="5650992"/>
            <a:ext cx="123443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6F61"/>
                </a:solidFill>
              </a:rPr>
              <a:t>71.9%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77639" y="5650992"/>
            <a:ext cx="1325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50%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49240" y="5650992"/>
            <a:ext cx="1143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D166"/>
                </a:solidFill>
              </a:rPr>
              <a:t>0.707</a:t>
            </a:r>
          </a:p>
        </p:txBody>
      </p:sp>
      <p:pic>
        <p:nvPicPr>
          <p:cNvPr id="42" name="Picture 41" descr="community_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737360"/>
            <a:ext cx="5394960" cy="3200400"/>
          </a:xfrm>
          <a:prstGeom prst="rect">
            <a:avLst/>
          </a:prstGeom>
        </p:spPr>
      </p:pic>
      <p:sp>
        <p:nvSpPr>
          <p:cNvPr id="43" name="Oval 42"/>
          <p:cNvSpPr/>
          <p:nvPr/>
        </p:nvSpPr>
        <p:spPr>
          <a:xfrm>
            <a:off x="365760" y="5715000"/>
            <a:ext cx="11430000" cy="868680"/>
          </a:xfrm>
          <a:prstGeom prst="ellipse">
            <a:avLst/>
          </a:prstGeom>
          <a:solidFill>
            <a:srgbClr val="0D172B"/>
          </a:solidFill>
          <a:ln w="19050">
            <a:solidFill>
              <a:srgbClr val="FF6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/>
          <a:lstStyle/>
          <a:p>
            <a:pPr algn="ctr"/>
            <a:r>
              <a:rPr sz="1100">
                <a:solidFill>
                  <a:srgbClr val="FFFFFF"/>
                </a:solidFill>
              </a:rPr>
              <a:t>⚠  Critical Finding: Pacific and Indian Ocean SIDS cluster in the upper-right quadrant — HIGH bleaching AND HIGH reef dependency simultaneously. These communities face the most severe food security and income threats from reef collapse.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CCCCCC"/>
                </a:solidFill>
              </a:rPr>
              <a:t>GCBD + World Bank fisheries employment data; community risk score = composite of bleaching severity x reef dependency x income vulnerability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005840"/>
            <a:ext cx="54864" cy="50292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8755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MODEL PERFORMANCE &amp; INTERPRETABILITY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572768"/>
            <a:ext cx="11430000" cy="13716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874519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C4B6"/>
                </a:solidFill>
              </a:rPr>
              <a:t>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874519"/>
            <a:ext cx="164591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C4B6"/>
                </a:solidFill>
              </a:rPr>
              <a:t>MAE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874519"/>
            <a:ext cx="164591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C4B6"/>
                </a:solidFill>
              </a:rPr>
              <a:t>RMSE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74519"/>
            <a:ext cx="164591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C4B6"/>
                </a:solidFill>
              </a:rPr>
              <a:t>R²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441448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Decision Tree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441448"/>
            <a:ext cx="164591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24.43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441448"/>
            <a:ext cx="164591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34.35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441448"/>
            <a:ext cx="164591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−0.52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3008376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Random Forest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008376"/>
            <a:ext cx="164591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23.28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008376"/>
            <a:ext cx="164591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32.98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008376"/>
            <a:ext cx="164591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−0.40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3575303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XGBoost 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575303"/>
            <a:ext cx="164591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6F61"/>
                </a:solidFill>
              </a:rPr>
              <a:t>21.96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575303"/>
            <a:ext cx="164591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6F61"/>
                </a:solidFill>
              </a:rPr>
              <a:t>30.72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575303"/>
            <a:ext cx="164591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6F61"/>
                </a:solidFill>
              </a:rPr>
              <a:t>−0.22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483864"/>
            <a:ext cx="11430000" cy="13716"/>
          </a:xfrm>
          <a:prstGeom prst="rect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42062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66"/>
                </a:solidFill>
              </a:rPr>
              <a:t>Why are R² values negative?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4663440"/>
            <a:ext cx="5943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Negative R² on the 2015–2020 test set means the model systematically underpredicts bleaching severity in the test era. This is expected: the model learned from pre-2015 patterns and the 2015–2020 mass bleaching events are genuinely unprecedented in the training data. XGBoost still outperforms the others and extracts the best signal available. This is not a modeling failure — it is empirical evidence that the 4th bleaching event exceeded historical bounds.</a:t>
            </a:r>
          </a:p>
        </p:txBody>
      </p:sp>
      <p:pic>
        <p:nvPicPr>
          <p:cNvPr id="24" name="Picture 23" descr="shap_beeswa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783080"/>
            <a:ext cx="5486400" cy="50292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CCCCCC"/>
                </a:solidFill>
              </a:rPr>
              <a:t>Temporal validation: train pre-2015 (8,259), test 2015–2020 (714); GCBD real data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005840"/>
            <a:ext cx="54864" cy="50292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8755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LIMITATIONS &amp; ETHICAL CONSIDERATIONS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572768"/>
            <a:ext cx="11430000" cy="13716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F61"/>
                </a:solidFill>
              </a:rPr>
              <a:t>Data 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860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•  GCBD covers 1980–2020 — does not capture the ongoing 4th Global Bleaching Event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999232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•  Observation bias: more survey records from well-studied reefs (Australia, Caribbean) than remote Pacific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712464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•  Negative R² on test set reflects unprecedented 2015–2020 conditions the model has not seen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425696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•  Fisheries dependence estimated from national statistics, not community-level surveys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4B6"/>
                </a:solidFill>
              </a:rPr>
              <a:t>Ethical Considerations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5486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•  Risk scores must NOT be used to de-prioritize reefs as "lost causes" — that harms the communities most dependent on them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127248"/>
            <a:ext cx="5486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•  Data from Indigenous-managed marine areas should be governed by those communities (data sovereignty, UNDRIP)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968496"/>
            <a:ext cx="5486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•  Model outputs are probabilistic indicators, not certainties — communicate uncertainty to any policy audience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5440680"/>
            <a:ext cx="11430000" cy="13716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55321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</a:rPr>
              <a:t>With more time: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8978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Integrate real-time NOAA CRW satellite data (2020–2026)  ·  Add community economic surveys in highest-risk SIDS  ·  Build an early-warning dashboard for reef managers and governments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CCCCCC"/>
                </a:solidFill>
              </a:rPr>
              <a:t>IPBES (2019) biodiversity data governance; UNDRIP (2007) data sovereignty; NOAA CRW for real-time extension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005840"/>
            <a:ext cx="54864" cy="502920"/>
          </a:xfrm>
          <a:prstGeom prst="rect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8755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CONCLUSION &amp;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572768"/>
            <a:ext cx="11430000" cy="13716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65760" y="1874519"/>
            <a:ext cx="3657600" cy="2834640"/>
          </a:xfrm>
          <a:prstGeom prst="ellipse">
            <a:avLst/>
          </a:prstGeom>
          <a:solidFill>
            <a:srgbClr val="0D172B"/>
          </a:solidFill>
          <a:ln w="25400">
            <a:solidFill>
              <a:srgbClr val="FF6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27000" rIns="101600"/>
          <a:lstStyle/>
          <a:p>
            <a:pPr algn="ctr"/>
            <a:r>
              <a:rPr sz="1300" b="1">
                <a:solidFill>
                  <a:srgbClr val="FF6F61"/>
                </a:solidFill>
              </a:rPr>
              <a:t>Most At-Risk Reefs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FFFFFF"/>
                </a:solidFill>
              </a:rPr>
              <a:t>Philippines, Japan (Ryukyu Islands), Thailand, Indonesia, Madagascar — high DHW + high SHAP-predicted risk scores</a:t>
            </a:r>
          </a:p>
        </p:txBody>
      </p:sp>
      <p:sp>
        <p:nvSpPr>
          <p:cNvPr id="6" name="Oval 5"/>
          <p:cNvSpPr/>
          <p:nvPr/>
        </p:nvSpPr>
        <p:spPr>
          <a:xfrm>
            <a:off x="4206240" y="1874519"/>
            <a:ext cx="3657600" cy="2834640"/>
          </a:xfrm>
          <a:prstGeom prst="ellipse">
            <a:avLst/>
          </a:prstGeom>
          <a:solidFill>
            <a:srgbClr val="0D172B"/>
          </a:solidFill>
          <a:ln w="2540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27000" rIns="101600"/>
          <a:lstStyle/>
          <a:p>
            <a:pPr algn="ctr"/>
            <a:r>
              <a:rPr sz="1300" b="1">
                <a:solidFill>
                  <a:srgbClr val="2EC4B6"/>
                </a:solidFill>
              </a:rPr>
              <a:t>Most Vulnerable Communities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FFFFFF"/>
                </a:solidFill>
              </a:rPr>
              <a:t>Palau (0.976), Indonesia (0.816), Fiji (0.770) — Pacific &amp; Indian Ocean SIDS with &gt;80% reef food dependency and minimal economic alternatives</a:t>
            </a:r>
          </a:p>
        </p:txBody>
      </p:sp>
      <p:sp>
        <p:nvSpPr>
          <p:cNvPr id="7" name="Oval 6"/>
          <p:cNvSpPr/>
          <p:nvPr/>
        </p:nvSpPr>
        <p:spPr>
          <a:xfrm>
            <a:off x="8046720" y="1874519"/>
            <a:ext cx="3749039" cy="2834640"/>
          </a:xfrm>
          <a:prstGeom prst="ellipse">
            <a:avLst/>
          </a:prstGeom>
          <a:solidFill>
            <a:srgbClr val="0D172B"/>
          </a:solidFill>
          <a:ln w="2540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27000" rIns="101600"/>
          <a:lstStyle/>
          <a:p>
            <a:pPr algn="ctr"/>
            <a:r>
              <a:rPr sz="1300" b="1">
                <a:solidFill>
                  <a:srgbClr val="FFD166"/>
                </a:solidFill>
              </a:rPr>
              <a:t>What We Can Do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FFFFFF"/>
                </a:solidFill>
              </a:rPr>
              <a:t>Real-time NOAA CRW integration · Bay-level bleaching early-warning dashboards · Fisheries policy reform in highest-risk SIDS · Partner with local NGOs for ground-truth validation</a:t>
            </a:r>
          </a:p>
        </p:txBody>
      </p:sp>
      <p:sp>
        <p:nvSpPr>
          <p:cNvPr id="8" name="Oval 7"/>
          <p:cNvSpPr/>
          <p:nvPr/>
        </p:nvSpPr>
        <p:spPr>
          <a:xfrm>
            <a:off x="365760" y="4846320"/>
            <a:ext cx="11430000" cy="777240"/>
          </a:xfrm>
          <a:prstGeom prst="ellipse">
            <a:avLst/>
          </a:prstGeom>
          <a:solidFill>
            <a:srgbClr val="0D172B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/>
          <a:lstStyle/>
          <a:p>
            <a:pPr algn="ctr"/>
            <a:r>
              <a:rPr sz="1200">
                <a:solidFill>
                  <a:srgbClr val="FFFFFF"/>
                </a:solidFill>
              </a:rPr>
              <a:t>🔑  Key Insight: Stable-temperature reefs are the most fragile. Conservation policy must prioritize them — even when they appear "safe" by mean SST alone.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5760720"/>
            <a:ext cx="11430000" cy="13716"/>
          </a:xfrm>
          <a:prstGeom prst="rect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8064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FF6F61"/>
                </a:solidFill>
              </a:rPr>
              <a:t>“The data tells us where to look. The question is whether we act in time.”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CCCCCC"/>
                </a:solidFill>
              </a:rPr>
              <a:t>Research Question: Which coral reefs are most at risk of collapse and which communities lose food security and income as a result? — SBU AI Community Datathon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